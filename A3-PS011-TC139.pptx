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>
      <p:cViewPr>
        <p:scale>
          <a:sx n="150" d="100"/>
          <a:sy n="150" d="100"/>
        </p:scale>
        <p:origin x="2070" y="82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9293" y="198244"/>
            <a:ext cx="11150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293" y="596822"/>
            <a:ext cx="5273675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234978" y="3092784"/>
            <a:ext cx="400050" cy="12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000DC"/>
                </a:solidFill>
                <a:latin typeface="Century Gothic"/>
                <a:cs typeface="Century Gothic"/>
              </a:defRPr>
            </a:lvl1pPr>
          </a:lstStyle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‹#›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nandu4678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dineshkumara@stjosephstechnology.ac.in" TargetMode="External"/><Relationship Id="rId4" Type="http://schemas.openxmlformats.org/officeDocument/2006/relationships/hyperlink" Target="mailto:hariharanjee23@gmail.com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93" y="252004"/>
            <a:ext cx="508223" cy="5039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5900" y="1012825"/>
            <a:ext cx="4429125" cy="967573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lang="en-IN" sz="2050" spc="-45" dirty="0"/>
              <a:t>Team CYBER SENTRY</a:t>
            </a:r>
            <a:br>
              <a:rPr lang="en-IN" sz="2050" spc="-45" dirty="0"/>
            </a:br>
            <a:r>
              <a:rPr sz="2050" spc="-45" dirty="0"/>
              <a:t>A3-</a:t>
            </a:r>
            <a:r>
              <a:rPr sz="2050" spc="-80" dirty="0"/>
              <a:t>PS0</a:t>
            </a:r>
            <a:r>
              <a:rPr lang="en-US" sz="2050" spc="-80" dirty="0"/>
              <a:t>1</a:t>
            </a:r>
            <a:r>
              <a:rPr sz="2050" spc="-80" dirty="0"/>
              <a:t>1-</a:t>
            </a:r>
            <a:r>
              <a:rPr sz="2050" spc="-10" dirty="0"/>
              <a:t>TC</a:t>
            </a:r>
            <a:r>
              <a:rPr lang="en-US" sz="2050" spc="-10" dirty="0"/>
              <a:t>139</a:t>
            </a:r>
            <a:endParaRPr sz="2050" dirty="0"/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b="0" spc="-100" dirty="0">
                <a:solidFill>
                  <a:srgbClr val="000000"/>
                </a:solidFill>
                <a:latin typeface="Century Gothic"/>
                <a:cs typeface="Century Gothic"/>
              </a:rPr>
              <a:t>A</a:t>
            </a:r>
            <a:r>
              <a:rPr lang="en-US" sz="1200" b="0" spc="-100" dirty="0">
                <a:solidFill>
                  <a:srgbClr val="000000"/>
                </a:solidFill>
              </a:rPr>
              <a:t>uthorized Attack-Surface Inventory and Change monitor	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2" y="2132387"/>
            <a:ext cx="6301208" cy="871391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lang="en-IN" sz="1000" b="1" spc="-100" dirty="0">
                <a:latin typeface="Century Gothic"/>
                <a:cs typeface="Century Gothic"/>
              </a:rPr>
              <a:t>Ananda Kumaran K I	Hariharan VB		Dinesh Kumar A(MENTOR)</a:t>
            </a:r>
            <a:endParaRPr sz="10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lang="en-IN" sz="1000" b="1" spc="-65" dirty="0">
                <a:latin typeface="Century Gothic"/>
                <a:cs typeface="Century Gothic"/>
                <a:hlinkClick r:id="rId3"/>
              </a:rPr>
              <a:t>anandu4678</a:t>
            </a:r>
            <a:r>
              <a:rPr sz="1000" b="1" spc="-65" dirty="0">
                <a:latin typeface="Century Gothic"/>
                <a:cs typeface="Century Gothic"/>
                <a:hlinkClick r:id="rId3"/>
              </a:rPr>
              <a:t>@</a:t>
            </a:r>
            <a:r>
              <a:rPr lang="en-IN" sz="1000" b="1" spc="-65" dirty="0">
                <a:latin typeface="Century Gothic"/>
                <a:cs typeface="Century Gothic"/>
                <a:hlinkClick r:id="rId3"/>
              </a:rPr>
              <a:t>g</a:t>
            </a:r>
            <a:r>
              <a:rPr sz="1000" b="1" spc="-65" dirty="0">
                <a:latin typeface="Century Gothic"/>
                <a:cs typeface="Century Gothic"/>
                <a:hlinkClick r:id="rId3"/>
              </a:rPr>
              <a:t>mail.com</a:t>
            </a:r>
            <a:r>
              <a:rPr lang="en-IN" sz="1000" b="1" spc="-65" dirty="0">
                <a:latin typeface="Century Gothic"/>
                <a:cs typeface="Century Gothic"/>
              </a:rPr>
              <a:t>	</a:t>
            </a:r>
            <a:r>
              <a:rPr lang="en-IN" sz="1000" b="1" spc="-65" dirty="0">
                <a:latin typeface="Century Gothic"/>
                <a:cs typeface="Century Gothic"/>
                <a:hlinkClick r:id="rId4"/>
              </a:rPr>
              <a:t>hariharanjee23@gmail.com</a:t>
            </a:r>
            <a:r>
              <a:rPr lang="en-IN" sz="1000" b="1" spc="-65" dirty="0">
                <a:latin typeface="Century Gothic"/>
                <a:cs typeface="Century Gothic"/>
              </a:rPr>
              <a:t> 	</a:t>
            </a:r>
            <a:r>
              <a:rPr lang="en-IN" sz="800" b="1" spc="-65" dirty="0">
                <a:latin typeface="Century Gothic"/>
                <a:cs typeface="Century Gothic"/>
                <a:hlinkClick r:id="rId5"/>
              </a:rPr>
              <a:t>dineshkumara@stjosephstechnology.ac.in</a:t>
            </a:r>
            <a:r>
              <a:rPr lang="en-IN" sz="800" b="1" spc="-65" dirty="0">
                <a:latin typeface="Century Gothic"/>
                <a:cs typeface="Century Gothic"/>
              </a:rPr>
              <a:t> </a:t>
            </a:r>
            <a:endParaRPr sz="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800" dirty="0">
                <a:latin typeface="Century Gothic"/>
                <a:cs typeface="Century Gothic"/>
              </a:rPr>
              <a:t>AIORI</a:t>
            </a:r>
            <a:r>
              <a:rPr sz="800" spc="50" dirty="0">
                <a:latin typeface="Century Gothic"/>
                <a:cs typeface="Century Gothic"/>
              </a:rPr>
              <a:t> </a:t>
            </a:r>
            <a:r>
              <a:rPr sz="800" spc="-10" dirty="0">
                <a:latin typeface="Century Gothic"/>
                <a:cs typeface="Century Gothic"/>
              </a:rPr>
              <a:t>Hackathon</a:t>
            </a:r>
            <a:r>
              <a:rPr sz="800" spc="55" dirty="0">
                <a:latin typeface="Century Gothic"/>
                <a:cs typeface="Century Gothic"/>
              </a:rPr>
              <a:t> </a:t>
            </a:r>
            <a:r>
              <a:rPr sz="800" spc="-50" dirty="0">
                <a:latin typeface="Century Gothic"/>
                <a:cs typeface="Century Gothic"/>
              </a:rPr>
              <a:t>3</a:t>
            </a:r>
            <a:endParaRPr sz="8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900" spc="-35" dirty="0">
                <a:latin typeface="Century Gothic"/>
                <a:cs typeface="Century Gothic"/>
              </a:rPr>
              <a:t>October</a:t>
            </a:r>
            <a:r>
              <a:rPr sz="900" spc="-10" dirty="0">
                <a:latin typeface="Century Gothic"/>
                <a:cs typeface="Century Gothic"/>
              </a:rPr>
              <a:t> </a:t>
            </a:r>
            <a:r>
              <a:rPr sz="900" dirty="0">
                <a:latin typeface="Century Gothic"/>
                <a:cs typeface="Century Gothic"/>
              </a:rPr>
              <a:t>5,</a:t>
            </a:r>
            <a:r>
              <a:rPr sz="900" spc="-5" dirty="0">
                <a:latin typeface="Century Gothic"/>
                <a:cs typeface="Century Gothic"/>
              </a:rPr>
              <a:t> </a:t>
            </a:r>
            <a:r>
              <a:rPr sz="900" spc="-20" dirty="0">
                <a:latin typeface="Century Gothic"/>
                <a:cs typeface="Century Gothic"/>
              </a:rPr>
              <a:t>2026</a:t>
            </a:r>
            <a:endParaRPr sz="9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333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Abstract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2" y="198244"/>
            <a:ext cx="1881607" cy="248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Problem</a:t>
            </a:r>
            <a:r>
              <a:rPr sz="1500" b="1" spc="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500" b="1" spc="-55" dirty="0">
                <a:solidFill>
                  <a:srgbClr val="0000DC"/>
                </a:solidFill>
                <a:latin typeface="Century Gothic"/>
                <a:cs typeface="Century Gothic"/>
              </a:rPr>
              <a:t>Description</a:t>
            </a:r>
            <a:endParaRPr sz="15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200" y="555625"/>
            <a:ext cx="5105400" cy="23198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Multi-Cloud Asset Sprawl:</a:t>
            </a:r>
            <a:r>
              <a:rPr lang="en-IN" sz="1000" dirty="0"/>
              <a:t> Organizations running multi-cloud infrastructure accumulate exposed digital assets over time, including unmaintained test subdomains, expired TLS certificates, open service ports, and dangling DNS CNAME records.</a:t>
            </a:r>
            <a:br>
              <a:rPr lang="en-IN" sz="1000" dirty="0"/>
            </a:b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Hackathon Challenge (PS-011):</a:t>
            </a:r>
            <a:r>
              <a:rPr lang="en-IN" sz="1000" dirty="0"/>
              <a:t> The project requires building an authorized attack-surface discovery and monitoring system for a lab portfolio of up to 20 domains and 10 hosts to catalogue public records, verify TLS certificates, and inspect service ports. </a:t>
            </a:r>
            <a:br>
              <a:rPr lang="en-IN" sz="1000" dirty="0"/>
            </a:b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Operational Blind Spots:</a:t>
            </a:r>
            <a:r>
              <a:rPr lang="en-IN" sz="1000" dirty="0"/>
              <a:t> Unmonitored digital footprints leave organizations vulnerable to unpredicted infrastructure drift, necessitating scheduled inventory comparisons and immediate alerts for unexpected services.</a:t>
            </a:r>
            <a:br>
              <a:rPr lang="en-IN" sz="1000" dirty="0"/>
            </a:b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Strict Safety Mandates:</a:t>
            </a:r>
            <a:r>
              <a:rPr lang="en-IN" sz="1000" dirty="0"/>
              <a:t> The monitoring system must rely exclusively on written, organizer-approved target scopes while strictly prohibiting unauthorized exploitation, and unrestricted scanning.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95780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Cyber Sentry</a:t>
            </a:r>
            <a:r>
              <a:rPr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1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1-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</a:rPr>
              <a:t>TC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139</a:t>
            </a:r>
            <a:endParaRPr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2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467359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Background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9448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10" dirty="0">
                <a:solidFill>
                  <a:srgbClr val="0000DC"/>
                </a:solidFill>
                <a:latin typeface="Century Gothic"/>
                <a:cs typeface="Century Gothic"/>
              </a:rPr>
              <a:t>Background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772513"/>
            <a:ext cx="5348370" cy="16998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The EASM Paradigm:</a:t>
            </a:r>
            <a:r>
              <a:rPr lang="en-IN" sz="1000" dirty="0"/>
              <a:t> EASM has shifted to continuous asset discovery, but legacy open-source tools suffer from high false-positive rates and heavy manual configuration overhead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Dangers of Dangling DNS:</a:t>
            </a:r>
            <a:r>
              <a:rPr lang="en-IN" sz="1000" dirty="0"/>
              <a:t> Orphaned CNAMEs pointing to deleted cloud instances allow attackers to register the missing resource and hijack subdomains.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Operational Blind Spots:</a:t>
            </a:r>
            <a:r>
              <a:rPr lang="en-IN" sz="1000" dirty="0"/>
              <a:t> Unverified initial baselines risk normalizing pre-existing vulnerabilities (e.g., expiring certificates, open database ports) as "expected state".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Need for Authorized Automation:</a:t>
            </a:r>
            <a:r>
              <a:rPr lang="en-IN" sz="1000" dirty="0"/>
              <a:t> Dynamic cloud tracking requires continuous automation governed by strict cryptographic authorization to guarantee safe monitoring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3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9271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Literature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114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&amp;</a:t>
            </a:r>
            <a:r>
              <a:rPr sz="600" b="1" spc="3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RFC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Review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9367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Literature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3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70" dirty="0">
                <a:solidFill>
                  <a:srgbClr val="0000DC"/>
                </a:solidFill>
                <a:latin typeface="Century Gothic"/>
                <a:cs typeface="Century Gothic"/>
              </a:rPr>
              <a:t>RFC</a:t>
            </a:r>
            <a:r>
              <a:rPr sz="1400" b="1" spc="-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Review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93" y="695568"/>
            <a:ext cx="5161915" cy="185371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OWASP Testing Guide (WSTG):</a:t>
            </a:r>
            <a:r>
              <a:rPr lang="en-IN" sz="1000" dirty="0"/>
              <a:t> Applies industry-standard OWASP passive reconnaissance methodologies for non-destructive, safe infrastructure discovery. </a:t>
            </a:r>
            <a:br>
              <a:rPr lang="en-IN" sz="1000" dirty="0"/>
            </a:br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Certificate Transparency (RFC 6962):</a:t>
            </a:r>
            <a:r>
              <a:rPr lang="en-IN" sz="1000" dirty="0"/>
              <a:t> Passively monitors public CT logs to detect newly issued domain certificates without triggering active network alarms.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DNS &amp; DNSSEC Standards (RFC 1034 / 4033):</a:t>
            </a:r>
            <a:r>
              <a:rPr lang="en-IN" sz="1000" dirty="0"/>
              <a:t> Implements multi-resolver consensus models and DNSSEC awareness to resolve dynamic CNAME chains and prevent DNS poisoning.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Rate Limiting &amp; Safety Controls:</a:t>
            </a:r>
            <a:r>
              <a:rPr lang="en-IN" sz="1000" dirty="0"/>
              <a:t> Employs token-bucket rate limiting and exponential backoff circuit breakers to guarantee non-disruptive, safe probing.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4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706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Proposed</a:t>
            </a:r>
            <a:r>
              <a:rPr sz="600" b="1" spc="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133836"/>
            <a:ext cx="14522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100" dirty="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r>
              <a:rPr sz="1400" b="1" spc="2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Solution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425616"/>
            <a:ext cx="5075555" cy="247375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Inventory &amp; Scope Enforcement:</a:t>
            </a:r>
            <a:r>
              <a:rPr lang="en-IN" sz="1000" dirty="0"/>
              <a:t> Monitors up to 20 domains and 10 hosts using an immutable, append-only database secured by a cryptographically signed scope to block unauthorized probes.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Discovery &amp; Monitoring Checks:</a:t>
            </a:r>
            <a:r>
              <a:rPr lang="en-IN" sz="1000" dirty="0"/>
              <a:t> Performs safe DNS, TLS, and service checks using a multi-resolver quorum, metadata verification, and ML-driven adaptive port profiling.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Scheduled Change Detection:</a:t>
            </a:r>
            <a:r>
              <a:rPr lang="en-IN" sz="1000" dirty="0"/>
              <a:t> Utilizes a core Diff Engine for scheduled inventory comparisons to track infrastructure drift and detect seeded issues like expired certificates or dangling CNAMEs.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AI False-Positive Analysis:</a:t>
            </a:r>
            <a:r>
              <a:rPr lang="en-IN" sz="1000" dirty="0"/>
              <a:t> Integrates AI/ML scope recommendations and a FPP scoring to filter transient network noise and perform a safer fingerprinting. </a:t>
            </a:r>
          </a:p>
          <a:p>
            <a:pPr lvl="0"/>
            <a:endParaRPr lang="en-IN" sz="10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00" b="1" dirty="0"/>
              <a:t>Alerting &amp; Demonstration:</a:t>
            </a:r>
            <a:r>
              <a:rPr lang="en-IN" sz="1000" dirty="0"/>
              <a:t> Delivers actionable reports and an interactive  visual dashboard to </a:t>
            </a:r>
            <a:r>
              <a:rPr lang="en-IN" sz="1000" dirty="0" err="1"/>
              <a:t>fulfill</a:t>
            </a:r>
            <a:r>
              <a:rPr lang="en-IN" sz="1000" dirty="0"/>
              <a:t> the final technical report and prototype demonstration requirements.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5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477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Solution</a:t>
            </a:r>
            <a:r>
              <a:rPr sz="600" b="1" spc="9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Optimization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198244"/>
            <a:ext cx="18084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60" dirty="0">
                <a:solidFill>
                  <a:srgbClr val="0000DC"/>
                </a:solidFill>
                <a:latin typeface="Century Gothic"/>
                <a:cs typeface="Century Gothic"/>
              </a:rPr>
              <a:t>Optimization</a:t>
            </a:r>
            <a:r>
              <a:rPr sz="1400" b="1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80" dirty="0">
                <a:solidFill>
                  <a:srgbClr val="0000DC"/>
                </a:solidFill>
                <a:latin typeface="Century Gothic"/>
                <a:cs typeface="Century Gothic"/>
              </a:rPr>
              <a:t>Proposed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880" y="708025"/>
            <a:ext cx="5075555" cy="178446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50" b="1" dirty="0"/>
              <a:t>Scope Definition:</a:t>
            </a:r>
            <a:r>
              <a:rPr lang="en-IN" sz="1050" dirty="0"/>
              <a:t> </a:t>
            </a:r>
            <a:r>
              <a:rPr lang="en-IN" sz="1050" i="1" dirty="0"/>
              <a:t>Before:</a:t>
            </a:r>
            <a:r>
              <a:rPr lang="en-IN" sz="1050" dirty="0"/>
              <a:t> Manual, error-prone YAML files. </a:t>
            </a:r>
            <a:r>
              <a:rPr lang="en-IN" sz="1050" i="1" dirty="0"/>
              <a:t>After:</a:t>
            </a:r>
            <a:r>
              <a:rPr lang="en-IN" sz="1050" dirty="0"/>
              <a:t> ML-drafted scopes with 1-click Ed25519 cryptographic approval. </a:t>
            </a:r>
          </a:p>
          <a:p>
            <a:pPr lvl="0"/>
            <a:endParaRPr lang="en-IN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50" b="1" dirty="0"/>
              <a:t>Port Discovery:</a:t>
            </a:r>
            <a:r>
              <a:rPr lang="en-IN" sz="1050" dirty="0"/>
              <a:t> </a:t>
            </a:r>
            <a:r>
              <a:rPr lang="en-IN" sz="1050" i="1" dirty="0"/>
              <a:t>Before:</a:t>
            </a:r>
            <a:r>
              <a:rPr lang="en-IN" sz="1050" dirty="0"/>
              <a:t> Aggressive full-port scans that risk DoS and violate safety rules. </a:t>
            </a:r>
            <a:r>
              <a:rPr lang="en-IN" sz="1050" i="1" dirty="0"/>
              <a:t>After:</a:t>
            </a:r>
            <a:r>
              <a:rPr lang="en-IN" sz="1050" dirty="0"/>
              <a:t> ML-driven adaptive profiling for targeted, safe port checks. </a:t>
            </a:r>
          </a:p>
          <a:p>
            <a:pPr lvl="0"/>
            <a:endParaRPr lang="en-IN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50" b="1" dirty="0"/>
              <a:t>False Positives:</a:t>
            </a:r>
            <a:r>
              <a:rPr lang="en-IN" sz="1050" dirty="0"/>
              <a:t> </a:t>
            </a:r>
            <a:r>
              <a:rPr lang="en-IN" sz="1050" i="1" dirty="0"/>
              <a:t>Before:</a:t>
            </a:r>
            <a:r>
              <a:rPr lang="en-IN" sz="1050" dirty="0"/>
              <a:t> High alert fatigue from transient DNS flakiness. </a:t>
            </a:r>
            <a:r>
              <a:rPr lang="en-IN" sz="1050" i="1" dirty="0"/>
              <a:t>After:</a:t>
            </a:r>
            <a:r>
              <a:rPr lang="en-IN" sz="1050" dirty="0"/>
              <a:t> Automated FPP scoring intelligently suppresses network noise. </a:t>
            </a:r>
          </a:p>
          <a:p>
            <a:pPr lvl="0"/>
            <a:endParaRPr lang="en-IN" sz="105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050" b="1" dirty="0"/>
              <a:t>Data Integrity:</a:t>
            </a:r>
            <a:r>
              <a:rPr lang="en-IN" sz="1050" dirty="0"/>
              <a:t> </a:t>
            </a:r>
            <a:r>
              <a:rPr lang="en-IN" sz="1050" i="1" dirty="0"/>
              <a:t>Before:</a:t>
            </a:r>
            <a:r>
              <a:rPr lang="en-IN" sz="1050" dirty="0"/>
              <a:t> Mutable databases vulnerable to historical tampering. </a:t>
            </a:r>
            <a:r>
              <a:rPr lang="en-IN" sz="1050" i="1" dirty="0"/>
              <a:t>After:</a:t>
            </a:r>
            <a:r>
              <a:rPr lang="en-IN" sz="1050" dirty="0"/>
              <a:t> Append-only, hash-chained storage guarantees an immutable audit trail. 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6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93" y="-20564"/>
            <a:ext cx="2574290" cy="46291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90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Solution </a:t>
            </a:r>
            <a:r>
              <a:rPr sz="1400" b="1" spc="-85" dirty="0">
                <a:solidFill>
                  <a:srgbClr val="0000DC"/>
                </a:solidFill>
                <a:latin typeface="Century Gothic"/>
                <a:cs typeface="Century Gothic"/>
              </a:rPr>
              <a:t>Architecture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204" dirty="0">
                <a:solidFill>
                  <a:srgbClr val="0000DC"/>
                </a:solidFill>
                <a:latin typeface="Century Gothic"/>
                <a:cs typeface="Century Gothic"/>
              </a:rPr>
              <a:t>&amp;</a:t>
            </a:r>
            <a:r>
              <a:rPr sz="1400" b="1" spc="-15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Design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13309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Architecture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Design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(UML</a:t>
            </a:r>
            <a:r>
              <a:rPr sz="600" b="1" spc="1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Diagram)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8053" y="2813799"/>
            <a:ext cx="22802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60" dirty="0">
                <a:latin typeface="Century Gothic"/>
                <a:cs typeface="Century Gothic"/>
              </a:rPr>
              <a:t>System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80" dirty="0">
                <a:latin typeface="Century Gothic"/>
                <a:cs typeface="Century Gothic"/>
              </a:rPr>
              <a:t>Architecture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UML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75" dirty="0">
                <a:latin typeface="Century Gothic"/>
                <a:cs typeface="Century Gothic"/>
              </a:rPr>
              <a:t>Diagram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7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3F5564-84CC-990D-6382-7790C5A3E3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" t="10930" r="820" b="3129"/>
          <a:stretch>
            <a:fillRect/>
          </a:stretch>
        </p:blipFill>
        <p:spPr>
          <a:xfrm>
            <a:off x="130772" y="442351"/>
            <a:ext cx="5504256" cy="237144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11690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0850" algn="l"/>
              </a:tabLst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</a:rPr>
              <a:t>	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Data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Flow</a:t>
            </a:r>
            <a:r>
              <a:rPr sz="600" b="1" spc="2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Diagram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39293" y="106208"/>
            <a:ext cx="4951730" cy="32573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pc="-114" dirty="0"/>
              <a:t>Data</a:t>
            </a:r>
            <a:r>
              <a:rPr spc="-30" dirty="0"/>
              <a:t> </a:t>
            </a:r>
            <a:r>
              <a:rPr spc="-20" dirty="0"/>
              <a:t>Flow</a:t>
            </a:r>
            <a:r>
              <a:rPr spc="-3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79218" y="2843789"/>
            <a:ext cx="18021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0" dirty="0">
                <a:solidFill>
                  <a:srgbClr val="0000DC"/>
                </a:solidFill>
                <a:latin typeface="Century Gothic"/>
                <a:cs typeface="Century Gothic"/>
              </a:rPr>
              <a:t>Figure:</a:t>
            </a:r>
            <a:r>
              <a:rPr sz="100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000" spc="-130" dirty="0">
                <a:latin typeface="Century Gothic"/>
                <a:cs typeface="Century Gothic"/>
              </a:rPr>
              <a:t>Data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25" dirty="0">
                <a:latin typeface="Century Gothic"/>
                <a:cs typeface="Century Gothic"/>
              </a:rPr>
              <a:t>Flow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105" dirty="0">
                <a:latin typeface="Century Gothic"/>
                <a:cs typeface="Century Gothic"/>
              </a:rPr>
              <a:t>Diagram</a:t>
            </a:r>
            <a:r>
              <a:rPr sz="1000" dirty="0">
                <a:latin typeface="Century Gothic"/>
                <a:cs typeface="Century Gothic"/>
              </a:rPr>
              <a:t> </a:t>
            </a:r>
            <a:r>
              <a:rPr sz="1000" spc="-55" dirty="0">
                <a:latin typeface="Century Gothic"/>
                <a:cs typeface="Century Gothic"/>
              </a:rPr>
              <a:t>(DFD)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8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D9B071-8683-322E-2B3F-09E61A5ABA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" t="5063" r="693" b="3751"/>
          <a:stretch>
            <a:fillRect/>
          </a:stretch>
        </p:blipFill>
        <p:spPr>
          <a:xfrm>
            <a:off x="271068" y="529930"/>
            <a:ext cx="5218430" cy="224427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8224" y="16997"/>
            <a:ext cx="3048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AIORI</a:t>
            </a:r>
            <a:r>
              <a:rPr sz="600" b="1" spc="4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 </a:t>
            </a:r>
            <a:r>
              <a:rPr sz="600" b="1" spc="-5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3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7016" y="16997"/>
            <a:ext cx="830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Deployment</a:t>
            </a:r>
            <a:r>
              <a:rPr sz="600" b="1" spc="-35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 </a:t>
            </a: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3" action="ppaction://hlinksldjump"/>
              </a:rPr>
              <a:t>Timeline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93" y="75416"/>
            <a:ext cx="17049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-95" dirty="0">
                <a:solidFill>
                  <a:srgbClr val="0000DC"/>
                </a:solidFill>
                <a:latin typeface="Century Gothic"/>
                <a:cs typeface="Century Gothic"/>
              </a:rPr>
              <a:t>Deployment</a:t>
            </a:r>
            <a:r>
              <a:rPr sz="1400" b="1" spc="-20" dirty="0">
                <a:solidFill>
                  <a:srgbClr val="0000DC"/>
                </a:solidFill>
                <a:latin typeface="Century Gothic"/>
                <a:cs typeface="Century Gothic"/>
              </a:rPr>
              <a:t> </a:t>
            </a:r>
            <a:r>
              <a:rPr sz="14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Timeline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9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FCEBEF-1EA3-E18A-F550-49828F4D9E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134105"/>
              </p:ext>
            </p:extLst>
          </p:nvPr>
        </p:nvGraphicFramePr>
        <p:xfrm>
          <a:off x="215901" y="340336"/>
          <a:ext cx="5310606" cy="2738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196">
                  <a:extLst>
                    <a:ext uri="{9D8B030D-6E8A-4147-A177-3AD203B41FA5}">
                      <a16:colId xmlns:a16="http://schemas.microsoft.com/office/drawing/2014/main" val="2848504853"/>
                    </a:ext>
                  </a:extLst>
                </a:gridCol>
                <a:gridCol w="1530174">
                  <a:extLst>
                    <a:ext uri="{9D8B030D-6E8A-4147-A177-3AD203B41FA5}">
                      <a16:colId xmlns:a16="http://schemas.microsoft.com/office/drawing/2014/main" val="1627166424"/>
                    </a:ext>
                  </a:extLst>
                </a:gridCol>
                <a:gridCol w="2070236">
                  <a:extLst>
                    <a:ext uri="{9D8B030D-6E8A-4147-A177-3AD203B41FA5}">
                      <a16:colId xmlns:a16="http://schemas.microsoft.com/office/drawing/2014/main" val="537425392"/>
                    </a:ext>
                  </a:extLst>
                </a:gridCol>
              </a:tblGrid>
              <a:tr h="470971">
                <a:tc>
                  <a:txBody>
                    <a:bodyPr/>
                    <a:lstStyle/>
                    <a:p>
                      <a:r>
                        <a:rPr lang="en-US" sz="1400" dirty="0"/>
                        <a:t>Project Milestone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Description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568249"/>
                  </a:ext>
                </a:extLst>
              </a:tr>
              <a:tr h="636926">
                <a:tc>
                  <a:txBody>
                    <a:bodyPr/>
                    <a:lstStyle/>
                    <a:p>
                      <a:r>
                        <a:rPr lang="en-US" sz="1000" dirty="0"/>
                        <a:t>Requirement analysis &amp; environment setup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15 Oct – 18 Oct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Define lab scope, setup isolated container environment and ai scope engine.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5518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z="1000" dirty="0"/>
                        <a:t>Authorization &amp; validation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19 Oct – 23 Oct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Implement Ed25519 scope signing, IP pinning and DNS/TLS/Port workers.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04206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000" dirty="0"/>
                        <a:t>Storage , Diffing &amp; AI Triage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24 Oct – 28 Oct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Deploy append-only DB, Day-0 isolation and False positive engine.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13924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sz="1000" dirty="0"/>
                        <a:t>Dashboard, Reporting &amp; final demo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29 Oct – 31 Oct </a:t>
                      </a:r>
                      <a:endParaRPr lang="en-IN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Build, visual node-graph UI, finalize documentation and conduct live demo</a:t>
                      </a:r>
                      <a:endParaRPr lang="en-IN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81089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2885" y="16997"/>
            <a:ext cx="500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10" dirty="0">
                <a:solidFill>
                  <a:srgbClr val="0000DC"/>
                </a:solidFill>
                <a:latin typeface="Century Gothic"/>
                <a:cs typeface="Century Gothic"/>
                <a:hlinkClick r:id="rId2" action="ppaction://hlinksldjump"/>
              </a:rPr>
              <a:t>Bibliography</a:t>
            </a:r>
            <a:endParaRPr sz="600">
              <a:latin typeface="Century Gothic"/>
              <a:cs typeface="Century Gothic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Bibliography</a:t>
            </a:r>
            <a:r>
              <a:rPr spc="-20" dirty="0"/>
              <a:t> </a:t>
            </a:r>
            <a:r>
              <a:rPr spc="-50" dirty="0"/>
              <a:t>I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39293" y="596822"/>
            <a:ext cx="5273675" cy="153054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lvl="0"/>
            <a:r>
              <a:rPr lang="en-IN" b="1" dirty="0"/>
              <a:t>1] Advanced Internet Operations Research in India (AIORI).</a:t>
            </a:r>
            <a:r>
              <a:rPr lang="en-IN" dirty="0"/>
              <a:t> "PS-011: Authorised Attack-Surface Inventory and Change." AIORI Hackathon Problem Statement, 2026.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[2] OWASP Foundation.</a:t>
            </a:r>
            <a:r>
              <a:rPr lang="en-IN" dirty="0"/>
              <a:t> "Web Security Testing Guide." Methodologies for passive reconnaissance and infrastructure discovery. </a:t>
            </a:r>
          </a:p>
          <a:p>
            <a:pPr lvl="0"/>
            <a:endParaRPr lang="en-IN" dirty="0"/>
          </a:p>
          <a:p>
            <a:pPr lvl="0"/>
            <a:r>
              <a:rPr lang="en-IN" b="1" dirty="0"/>
              <a:t>[3] Internal Design Draft.</a:t>
            </a:r>
            <a:r>
              <a:rPr lang="en-IN" dirty="0"/>
              <a:t> "Secure Design: Authorized Attack-Surface Discovery and Monitoring System." Lab Portfolio EASM Blueprint.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9293" y="3050083"/>
            <a:ext cx="160845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lang="en-IN" sz="600" spc="10" dirty="0">
                <a:solidFill>
                  <a:srgbClr val="0000DC"/>
                </a:solidFill>
                <a:latin typeface="Century Gothic"/>
                <a:cs typeface="Century Gothic"/>
              </a:rPr>
              <a:t> Cyber Sentry</a:t>
            </a:r>
            <a:r>
              <a:rPr lang="en-IN" sz="2100" i="1" baseline="-7936" dirty="0">
                <a:solidFill>
                  <a:srgbClr val="0000DC"/>
                </a:solidFill>
                <a:latin typeface="Arial Narrow"/>
                <a:cs typeface="Arial Narrow"/>
              </a:rPr>
              <a:t>·</a:t>
            </a:r>
            <a:r>
              <a:rPr lang="en-IN" sz="2100" i="1" spc="-202" baseline="-7936" dirty="0">
                <a:solidFill>
                  <a:srgbClr val="0000DC"/>
                </a:solidFill>
                <a:latin typeface="Arial Narrow"/>
                <a:cs typeface="Arial Narrow"/>
              </a:rPr>
              <a:t> 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A3-</a:t>
            </a:r>
            <a:r>
              <a:rPr lang="en-IN" sz="600" b="1" spc="-10" dirty="0">
                <a:solidFill>
                  <a:srgbClr val="0000DC"/>
                </a:solidFill>
                <a:latin typeface="Century Gothic"/>
                <a:cs typeface="Century Gothic"/>
              </a:rPr>
              <a:t>PS011-</a:t>
            </a:r>
            <a:r>
              <a:rPr lang="en-IN" sz="600" b="1" dirty="0">
                <a:solidFill>
                  <a:srgbClr val="0000DC"/>
                </a:solidFill>
                <a:latin typeface="Century Gothic"/>
                <a:cs typeface="Century Gothic"/>
              </a:rPr>
              <a:t>TC139</a:t>
            </a:r>
            <a:endParaRPr lang="en-IN" sz="6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dirty="0"/>
              <a:t>10</a:t>
            </a:fld>
            <a:r>
              <a:rPr spc="5" dirty="0"/>
              <a:t> </a:t>
            </a:r>
            <a:r>
              <a:rPr dirty="0"/>
              <a:t>/</a:t>
            </a:r>
            <a:r>
              <a:rPr spc="10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923</Words>
  <Application>Microsoft Office PowerPoint</Application>
  <PresentationFormat>Custom</PresentationFormat>
  <Paragraphs>105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Narrow</vt:lpstr>
      <vt:lpstr>Century Gothic</vt:lpstr>
      <vt:lpstr>Office Theme</vt:lpstr>
      <vt:lpstr>Team CYBER SENTRY A3-PS011-TC139 Authorized Attack-Surface Inventory and Change monitor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Flow Diagram</vt:lpstr>
      <vt:lpstr>PowerPoint Presentation</vt:lpstr>
      <vt:lpstr>Bibliography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A3-PS001-TC001 - Android Ransomware-like Activity Early Warning in a Controlled Lab</dc:title>
  <dc:subject>Presentation Subject</dc:subject>
  <dc:creator>John Doe, personal-id@some.mail.com</dc:creator>
  <cp:keywords>the, presentation, keywords</cp:keywords>
  <cp:lastModifiedBy>Anandu .H</cp:lastModifiedBy>
  <cp:revision>5</cp:revision>
  <dcterms:created xsi:type="dcterms:W3CDTF">2026-10-14T15:55:30Z</dcterms:created>
  <dcterms:modified xsi:type="dcterms:W3CDTF">2026-10-14T17:43:27Z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2026-10-14T00:00:00Z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